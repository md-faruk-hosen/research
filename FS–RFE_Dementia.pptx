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Figtree"/>
      <p:regular r:id="rId29"/>
      <p:bold r:id="rId30"/>
      <p:italic r:id="rId31"/>
      <p:boldItalic r:id="rId32"/>
    </p:embeddedFont>
    <p:embeddedFont>
      <p:font typeface="Raleway"/>
      <p:regular r:id="rId33"/>
      <p:bold r:id="rId34"/>
      <p:italic r:id="rId35"/>
      <p:boldItalic r:id="rId36"/>
    </p:embeddedFont>
    <p:embeddedFont>
      <p:font typeface="Karla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1" roundtripDataSignature="AMtx7miTrNwwaUXw5LhXMN3uO1jZ63Cm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826B2A3-DA76-4A92-918D-F4DFB7DA8C02}">
  <a:tblStyle styleId="{A826B2A3-DA76-4A92-918D-F4DFB7DA8C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9DF9EDC1-B6B6-48BE-A3C7-FE82F6D0DBE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Karla-boldItalic.fntdata"/><Relationship Id="rId20" Type="http://schemas.openxmlformats.org/officeDocument/2006/relationships/slide" Target="slides/slide15.xml"/><Relationship Id="rId41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gtre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Figtree-italic.fntdata"/><Relationship Id="rId30" Type="http://schemas.openxmlformats.org/officeDocument/2006/relationships/font" Target="fonts/Figtree-bold.fntdata"/><Relationship Id="rId11" Type="http://schemas.openxmlformats.org/officeDocument/2006/relationships/slide" Target="slides/slide6.xml"/><Relationship Id="rId33" Type="http://schemas.openxmlformats.org/officeDocument/2006/relationships/font" Target="fonts/Raleway-regular.fntdata"/><Relationship Id="rId10" Type="http://schemas.openxmlformats.org/officeDocument/2006/relationships/slide" Target="slides/slide5.xml"/><Relationship Id="rId32" Type="http://schemas.openxmlformats.org/officeDocument/2006/relationships/font" Target="fonts/Figtree-boldItalic.fntdata"/><Relationship Id="rId13" Type="http://schemas.openxmlformats.org/officeDocument/2006/relationships/slide" Target="slides/slide8.xml"/><Relationship Id="rId35" Type="http://schemas.openxmlformats.org/officeDocument/2006/relationships/font" Target="fonts/Raleway-italic.fntdata"/><Relationship Id="rId12" Type="http://schemas.openxmlformats.org/officeDocument/2006/relationships/slide" Target="slides/slide7.xml"/><Relationship Id="rId34" Type="http://schemas.openxmlformats.org/officeDocument/2006/relationships/font" Target="fonts/Raleway-bold.fntdata"/><Relationship Id="rId15" Type="http://schemas.openxmlformats.org/officeDocument/2006/relationships/slide" Target="slides/slide10.xml"/><Relationship Id="rId37" Type="http://schemas.openxmlformats.org/officeDocument/2006/relationships/font" Target="fonts/Karla-regular.fntdata"/><Relationship Id="rId14" Type="http://schemas.openxmlformats.org/officeDocument/2006/relationships/slide" Target="slides/slide9.xml"/><Relationship Id="rId36" Type="http://schemas.openxmlformats.org/officeDocument/2006/relationships/font" Target="fonts/Raleway-boldItalic.fntdata"/><Relationship Id="rId17" Type="http://schemas.openxmlformats.org/officeDocument/2006/relationships/slide" Target="slides/slide12.xml"/><Relationship Id="rId39" Type="http://schemas.openxmlformats.org/officeDocument/2006/relationships/font" Target="fonts/Karla-italic.fntdata"/><Relationship Id="rId16" Type="http://schemas.openxmlformats.org/officeDocument/2006/relationships/slide" Target="slides/slide11.xml"/><Relationship Id="rId38" Type="http://schemas.openxmlformats.org/officeDocument/2006/relationships/font" Target="fonts/Karla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5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5"/>
          <p:cNvSpPr txBox="1"/>
          <p:nvPr>
            <p:ph type="ctrTitle"/>
          </p:nvPr>
        </p:nvSpPr>
        <p:spPr>
          <a:xfrm>
            <a:off x="228600" y="1102382"/>
            <a:ext cx="86868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subTitle"/>
          </p:nvPr>
        </p:nvSpPr>
        <p:spPr>
          <a:xfrm>
            <a:off x="228600" y="3171600"/>
            <a:ext cx="2945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6" title="BK 1.png"/>
          <p:cNvPicPr preferRelativeResize="0"/>
          <p:nvPr/>
        </p:nvPicPr>
        <p:blipFill rotWithShape="1">
          <a:blip r:embed="rId2">
            <a:alphaModFix/>
          </a:blip>
          <a:srcRect b="932" l="961" r="950" t="922"/>
          <a:stretch/>
        </p:blipFill>
        <p:spPr>
          <a:xfrm flipH="1">
            <a:off x="5051" y="0"/>
            <a:ext cx="913894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6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" name="Google Shape;15;p26"/>
          <p:cNvSpPr txBox="1"/>
          <p:nvPr>
            <p:ph idx="1" type="subTitle"/>
          </p:nvPr>
        </p:nvSpPr>
        <p:spPr>
          <a:xfrm>
            <a:off x="2336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2" type="subTitle"/>
          </p:nvPr>
        </p:nvSpPr>
        <p:spPr>
          <a:xfrm>
            <a:off x="25015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" name="Google Shape;17;p26"/>
          <p:cNvSpPr txBox="1"/>
          <p:nvPr>
            <p:ph idx="3" type="subTitle"/>
          </p:nvPr>
        </p:nvSpPr>
        <p:spPr>
          <a:xfrm>
            <a:off x="47694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4" type="subTitle"/>
          </p:nvPr>
        </p:nvSpPr>
        <p:spPr>
          <a:xfrm>
            <a:off x="70373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" name="Google Shape;19;p26"/>
          <p:cNvSpPr txBox="1"/>
          <p:nvPr>
            <p:ph idx="5" type="subTitle"/>
          </p:nvPr>
        </p:nvSpPr>
        <p:spPr>
          <a:xfrm>
            <a:off x="2311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" name="Google Shape;20;p26"/>
          <p:cNvSpPr txBox="1"/>
          <p:nvPr>
            <p:ph idx="6" type="subTitle"/>
          </p:nvPr>
        </p:nvSpPr>
        <p:spPr>
          <a:xfrm>
            <a:off x="24990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" name="Google Shape;21;p26"/>
          <p:cNvSpPr txBox="1"/>
          <p:nvPr>
            <p:ph idx="7" type="subTitle"/>
          </p:nvPr>
        </p:nvSpPr>
        <p:spPr>
          <a:xfrm>
            <a:off x="47669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8" type="subTitle"/>
          </p:nvPr>
        </p:nvSpPr>
        <p:spPr>
          <a:xfrm>
            <a:off x="70348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2pPr>
            <a:lvl3pPr lvl="2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3pPr>
            <a:lvl4pPr lvl="3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4pPr>
            <a:lvl5pPr lvl="4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5pPr>
            <a:lvl6pPr lvl="5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6pPr>
            <a:lvl7pPr lvl="6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7pPr>
            <a:lvl8pPr lvl="7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8pPr>
            <a:lvl9pPr lvl="8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b="1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9" type="title"/>
          </p:nvPr>
        </p:nvSpPr>
        <p:spPr>
          <a:xfrm>
            <a:off x="7034825" y="2029975"/>
            <a:ext cx="625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" name="Google Shape;24;p26"/>
          <p:cNvSpPr txBox="1"/>
          <p:nvPr>
            <p:ph idx="13" type="title"/>
          </p:nvPr>
        </p:nvSpPr>
        <p:spPr>
          <a:xfrm>
            <a:off x="2498225" y="2029985"/>
            <a:ext cx="625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5" name="Google Shape;25;p26"/>
          <p:cNvSpPr txBox="1"/>
          <p:nvPr>
            <p:ph idx="14" type="title"/>
          </p:nvPr>
        </p:nvSpPr>
        <p:spPr>
          <a:xfrm>
            <a:off x="231125" y="2029975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26" name="Google Shape;26;p26"/>
          <p:cNvSpPr txBox="1"/>
          <p:nvPr>
            <p:ph idx="15" type="title"/>
          </p:nvPr>
        </p:nvSpPr>
        <p:spPr>
          <a:xfrm>
            <a:off x="4766525" y="2029967"/>
            <a:ext cx="625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27" name="Google Shape;27;p26"/>
          <p:cNvSpPr txBox="1"/>
          <p:nvPr>
            <p:ph idx="16" type="title"/>
          </p:nvPr>
        </p:nvSpPr>
        <p:spPr>
          <a:xfrm>
            <a:off x="2499825" y="3377214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26"/>
          <p:cNvSpPr txBox="1"/>
          <p:nvPr>
            <p:ph idx="17" type="title"/>
          </p:nvPr>
        </p:nvSpPr>
        <p:spPr>
          <a:xfrm>
            <a:off x="4767325" y="3377214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26"/>
          <p:cNvSpPr txBox="1"/>
          <p:nvPr>
            <p:ph idx="18" type="title"/>
          </p:nvPr>
        </p:nvSpPr>
        <p:spPr>
          <a:xfrm>
            <a:off x="7034825" y="3377224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26"/>
          <p:cNvSpPr txBox="1"/>
          <p:nvPr>
            <p:ph idx="19" type="title"/>
          </p:nvPr>
        </p:nvSpPr>
        <p:spPr>
          <a:xfrm>
            <a:off x="232325" y="3377225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7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5576325" y="3472990"/>
            <a:ext cx="25305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 sz="1000">
                <a:solidFill>
                  <a:srgbClr val="434343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4" name="Google Shape;34;p27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8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8"/>
          <p:cNvSpPr txBox="1"/>
          <p:nvPr>
            <p:ph idx="1" type="subTitle"/>
          </p:nvPr>
        </p:nvSpPr>
        <p:spPr>
          <a:xfrm>
            <a:off x="1885725" y="3336650"/>
            <a:ext cx="2321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2" type="subTitle"/>
          </p:nvPr>
        </p:nvSpPr>
        <p:spPr>
          <a:xfrm>
            <a:off x="6539604" y="2003700"/>
            <a:ext cx="2321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3" type="subTitle"/>
          </p:nvPr>
        </p:nvSpPr>
        <p:spPr>
          <a:xfrm>
            <a:off x="6539604" y="3336650"/>
            <a:ext cx="23214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type="title"/>
          </p:nvPr>
        </p:nvSpPr>
        <p:spPr>
          <a:xfrm>
            <a:off x="228600" y="3336650"/>
            <a:ext cx="16350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" name="Google Shape;41;p28"/>
          <p:cNvSpPr txBox="1"/>
          <p:nvPr>
            <p:ph idx="4" type="title"/>
          </p:nvPr>
        </p:nvSpPr>
        <p:spPr>
          <a:xfrm>
            <a:off x="4882700" y="2006300"/>
            <a:ext cx="16350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42" name="Google Shape;42;p28"/>
          <p:cNvSpPr txBox="1"/>
          <p:nvPr>
            <p:ph idx="5" type="title"/>
          </p:nvPr>
        </p:nvSpPr>
        <p:spPr>
          <a:xfrm>
            <a:off x="4882700" y="3336650"/>
            <a:ext cx="16350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43" name="Google Shape;43;p28"/>
          <p:cNvSpPr txBox="1"/>
          <p:nvPr>
            <p:ph idx="6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7" type="subTitle"/>
          </p:nvPr>
        </p:nvSpPr>
        <p:spPr>
          <a:xfrm>
            <a:off x="228600" y="2021150"/>
            <a:ext cx="39786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29" title="BK 1.png"/>
          <p:cNvPicPr preferRelativeResize="0"/>
          <p:nvPr/>
        </p:nvPicPr>
        <p:blipFill rotWithShape="1">
          <a:blip r:embed="rId2">
            <a:alphaModFix/>
          </a:blip>
          <a:srcRect b="922" l="1755" r="97" t="932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9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30" title="BK 1.png"/>
          <p:cNvPicPr preferRelativeResize="0"/>
          <p:nvPr/>
        </p:nvPicPr>
        <p:blipFill rotWithShape="1">
          <a:blip r:embed="rId2">
            <a:alphaModFix/>
          </a:blip>
          <a:srcRect b="1854" l="514" r="514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0"/>
          <p:cNvSpPr txBox="1"/>
          <p:nvPr>
            <p:ph type="title"/>
          </p:nvPr>
        </p:nvSpPr>
        <p:spPr>
          <a:xfrm>
            <a:off x="23365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" type="body"/>
          </p:nvPr>
        </p:nvSpPr>
        <p:spPr>
          <a:xfrm>
            <a:off x="228600" y="1370175"/>
            <a:ext cx="3697800" cy="354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30"/>
          <p:cNvSpPr/>
          <p:nvPr>
            <p:ph idx="2" type="pic"/>
          </p:nvPr>
        </p:nvSpPr>
        <p:spPr>
          <a:xfrm flipH="1">
            <a:off x="4571925" y="1525000"/>
            <a:ext cx="4237200" cy="3125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31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1"/>
          <p:cNvSpPr txBox="1"/>
          <p:nvPr>
            <p:ph type="title"/>
          </p:nvPr>
        </p:nvSpPr>
        <p:spPr>
          <a:xfrm>
            <a:off x="873625" y="3070429"/>
            <a:ext cx="3351000" cy="1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6" name="Google Shape;56;p31"/>
          <p:cNvSpPr txBox="1"/>
          <p:nvPr>
            <p:ph idx="2" type="title"/>
          </p:nvPr>
        </p:nvSpPr>
        <p:spPr>
          <a:xfrm>
            <a:off x="7007038" y="1610330"/>
            <a:ext cx="1268400" cy="126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32" title="BK 1.png"/>
          <p:cNvPicPr preferRelativeResize="0"/>
          <p:nvPr/>
        </p:nvPicPr>
        <p:blipFill rotWithShape="1">
          <a:blip r:embed="rId2">
            <a:alphaModFix/>
          </a:blip>
          <a:srcRect b="932" l="1755" r="97" t="932"/>
          <a:stretch/>
        </p:blipFill>
        <p:spPr>
          <a:xfrm flipH="1">
            <a:off x="3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2"/>
          <p:cNvSpPr txBox="1"/>
          <p:nvPr>
            <p:ph idx="1" type="subTitle"/>
          </p:nvPr>
        </p:nvSpPr>
        <p:spPr>
          <a:xfrm>
            <a:off x="231125" y="2031875"/>
            <a:ext cx="15093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32"/>
          <p:cNvSpPr txBox="1"/>
          <p:nvPr>
            <p:ph idx="2" type="subTitle"/>
          </p:nvPr>
        </p:nvSpPr>
        <p:spPr>
          <a:xfrm>
            <a:off x="231125" y="3540950"/>
            <a:ext cx="1509300" cy="9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600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1" name="Google Shape;61;p32"/>
          <p:cNvSpPr txBox="1"/>
          <p:nvPr>
            <p:ph idx="3" type="subTitle"/>
          </p:nvPr>
        </p:nvSpPr>
        <p:spPr>
          <a:xfrm>
            <a:off x="1816625" y="2031875"/>
            <a:ext cx="34932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4" type="subTitle"/>
          </p:nvPr>
        </p:nvSpPr>
        <p:spPr>
          <a:xfrm>
            <a:off x="1816625" y="3540950"/>
            <a:ext cx="3493200" cy="1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type="title"/>
          </p:nvPr>
        </p:nvSpPr>
        <p:spPr>
          <a:xfrm>
            <a:off x="231125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33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0" t="415"/>
          <a:stretch/>
        </p:blipFill>
        <p:spPr>
          <a:xfrm>
            <a:off x="0" y="0"/>
            <a:ext cx="922062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3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4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4"/>
          <p:cNvSpPr txBox="1"/>
          <p:nvPr>
            <p:ph type="title"/>
          </p:nvPr>
        </p:nvSpPr>
        <p:spPr>
          <a:xfrm>
            <a:off x="228600" y="228600"/>
            <a:ext cx="3998400" cy="14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>
            <a:off x="1609625" y="2066125"/>
            <a:ext cx="3824100" cy="25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34"/>
          <p:cNvSpPr/>
          <p:nvPr>
            <p:ph idx="2" type="pic"/>
          </p:nvPr>
        </p:nvSpPr>
        <p:spPr>
          <a:xfrm>
            <a:off x="5715849" y="0"/>
            <a:ext cx="34281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35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5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36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36"/>
          <p:cNvSpPr txBox="1"/>
          <p:nvPr>
            <p:ph idx="1" type="subTitle"/>
          </p:nvPr>
        </p:nvSpPr>
        <p:spPr>
          <a:xfrm>
            <a:off x="720064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6"/>
          <p:cNvSpPr txBox="1"/>
          <p:nvPr>
            <p:ph idx="2" type="subTitle"/>
          </p:nvPr>
        </p:nvSpPr>
        <p:spPr>
          <a:xfrm>
            <a:off x="4826936" y="1580125"/>
            <a:ext cx="35970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6"/>
          <p:cNvSpPr txBox="1"/>
          <p:nvPr>
            <p:ph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7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37"/>
          <p:cNvSpPr txBox="1"/>
          <p:nvPr>
            <p:ph type="title"/>
          </p:nvPr>
        </p:nvSpPr>
        <p:spPr>
          <a:xfrm>
            <a:off x="228600" y="4549500"/>
            <a:ext cx="36585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38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38"/>
          <p:cNvSpPr txBox="1"/>
          <p:nvPr>
            <p:ph hasCustomPrompt="1" type="title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6" name="Google Shape;86;p38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0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0"/>
          <p:cNvSpPr txBox="1"/>
          <p:nvPr>
            <p:ph type="title"/>
          </p:nvPr>
        </p:nvSpPr>
        <p:spPr>
          <a:xfrm>
            <a:off x="228600" y="228604"/>
            <a:ext cx="8686800" cy="105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1" name="Google Shape;91;p40"/>
          <p:cNvSpPr txBox="1"/>
          <p:nvPr>
            <p:ph idx="1" type="subTitle"/>
          </p:nvPr>
        </p:nvSpPr>
        <p:spPr>
          <a:xfrm>
            <a:off x="228600" y="1737625"/>
            <a:ext cx="6370200" cy="3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41" title="BK 1.png"/>
          <p:cNvPicPr preferRelativeResize="0"/>
          <p:nvPr/>
        </p:nvPicPr>
        <p:blipFill rotWithShape="1">
          <a:blip r:embed="rId2">
            <a:alphaModFix/>
          </a:blip>
          <a:srcRect b="921" l="1755" r="97" t="942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1"/>
          <p:cNvSpPr txBox="1"/>
          <p:nvPr>
            <p:ph idx="1" type="subTitle"/>
          </p:nvPr>
        </p:nvSpPr>
        <p:spPr>
          <a:xfrm>
            <a:off x="722275" y="1741825"/>
            <a:ext cx="3039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2" type="subTitle"/>
          </p:nvPr>
        </p:nvSpPr>
        <p:spPr>
          <a:xfrm>
            <a:off x="722275" y="2627788"/>
            <a:ext cx="3039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3" type="subTitle"/>
          </p:nvPr>
        </p:nvSpPr>
        <p:spPr>
          <a:xfrm>
            <a:off x="5065675" y="1741825"/>
            <a:ext cx="3039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41"/>
          <p:cNvSpPr txBox="1"/>
          <p:nvPr>
            <p:ph idx="4" type="subTitle"/>
          </p:nvPr>
        </p:nvSpPr>
        <p:spPr>
          <a:xfrm>
            <a:off x="5065675" y="2627788"/>
            <a:ext cx="3039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1"/>
          <p:cNvSpPr txBox="1"/>
          <p:nvPr>
            <p:ph idx="5" type="subTitle"/>
          </p:nvPr>
        </p:nvSpPr>
        <p:spPr>
          <a:xfrm>
            <a:off x="722275" y="3513750"/>
            <a:ext cx="3039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1"/>
          <p:cNvSpPr txBox="1"/>
          <p:nvPr>
            <p:ph idx="6" type="subTitle"/>
          </p:nvPr>
        </p:nvSpPr>
        <p:spPr>
          <a:xfrm>
            <a:off x="5065675" y="3513750"/>
            <a:ext cx="30390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41"/>
          <p:cNvSpPr txBox="1"/>
          <p:nvPr>
            <p:ph type="title"/>
          </p:nvPr>
        </p:nvSpPr>
        <p:spPr>
          <a:xfrm>
            <a:off x="4572000" y="3398875"/>
            <a:ext cx="591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" name="Google Shape;101;p41"/>
          <p:cNvSpPr txBox="1"/>
          <p:nvPr>
            <p:ph idx="7" type="title"/>
          </p:nvPr>
        </p:nvSpPr>
        <p:spPr>
          <a:xfrm>
            <a:off x="228600" y="3398875"/>
            <a:ext cx="591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2" name="Google Shape;102;p41"/>
          <p:cNvSpPr txBox="1"/>
          <p:nvPr>
            <p:ph idx="8" type="title"/>
          </p:nvPr>
        </p:nvSpPr>
        <p:spPr>
          <a:xfrm>
            <a:off x="228600" y="2512913"/>
            <a:ext cx="5901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103" name="Google Shape;103;p41"/>
          <p:cNvSpPr txBox="1"/>
          <p:nvPr>
            <p:ph idx="9" type="title"/>
          </p:nvPr>
        </p:nvSpPr>
        <p:spPr>
          <a:xfrm>
            <a:off x="4572000" y="2512925"/>
            <a:ext cx="591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04" name="Google Shape;104;p41"/>
          <p:cNvSpPr txBox="1"/>
          <p:nvPr>
            <p:ph idx="13" type="title"/>
          </p:nvPr>
        </p:nvSpPr>
        <p:spPr>
          <a:xfrm>
            <a:off x="228600" y="1626950"/>
            <a:ext cx="591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5" name="Google Shape;105;p41"/>
          <p:cNvSpPr txBox="1"/>
          <p:nvPr>
            <p:ph idx="14" type="title"/>
          </p:nvPr>
        </p:nvSpPr>
        <p:spPr>
          <a:xfrm>
            <a:off x="4572000" y="1626975"/>
            <a:ext cx="591000" cy="7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06" name="Google Shape;106;p41"/>
          <p:cNvSpPr txBox="1"/>
          <p:nvPr>
            <p:ph idx="15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42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2"/>
          <p:cNvSpPr txBox="1"/>
          <p:nvPr>
            <p:ph type="title"/>
          </p:nvPr>
        </p:nvSpPr>
        <p:spPr>
          <a:xfrm>
            <a:off x="635425" y="3071601"/>
            <a:ext cx="38784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0" name="Google Shape;110;p42"/>
          <p:cNvSpPr txBox="1"/>
          <p:nvPr>
            <p:ph idx="1" type="subTitle"/>
          </p:nvPr>
        </p:nvSpPr>
        <p:spPr>
          <a:xfrm>
            <a:off x="635425" y="1858769"/>
            <a:ext cx="3878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42"/>
          <p:cNvSpPr txBox="1"/>
          <p:nvPr>
            <p:ph idx="2" type="title"/>
          </p:nvPr>
        </p:nvSpPr>
        <p:spPr>
          <a:xfrm>
            <a:off x="4630175" y="1858773"/>
            <a:ext cx="38784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/>
        </p:txBody>
      </p:sp>
      <p:sp>
        <p:nvSpPr>
          <p:cNvPr id="112" name="Google Shape;112;p42"/>
          <p:cNvSpPr txBox="1"/>
          <p:nvPr>
            <p:ph idx="3" type="subTitle"/>
          </p:nvPr>
        </p:nvSpPr>
        <p:spPr>
          <a:xfrm>
            <a:off x="4630175" y="3183957"/>
            <a:ext cx="38784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43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3"/>
          <p:cNvSpPr txBox="1"/>
          <p:nvPr>
            <p:ph type="title"/>
          </p:nvPr>
        </p:nvSpPr>
        <p:spPr>
          <a:xfrm>
            <a:off x="4767707" y="1742353"/>
            <a:ext cx="3738000" cy="110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16" name="Google Shape;116;p43"/>
          <p:cNvSpPr txBox="1"/>
          <p:nvPr>
            <p:ph idx="1" type="subTitle"/>
          </p:nvPr>
        </p:nvSpPr>
        <p:spPr>
          <a:xfrm>
            <a:off x="645738" y="2936631"/>
            <a:ext cx="2914200" cy="12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3"/>
          <p:cNvSpPr txBox="1"/>
          <p:nvPr/>
        </p:nvSpPr>
        <p:spPr>
          <a:xfrm>
            <a:off x="5591557" y="2936631"/>
            <a:ext cx="2914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CREDITS: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This presentation template was created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, and includes icons, infographics &amp; images by </a:t>
            </a:r>
            <a:r>
              <a:rPr b="1" i="0" lang="en" sz="1000" u="none" cap="none" strike="noStrike">
                <a:solidFill>
                  <a:schemeClr val="dk1"/>
                </a:solidFill>
                <a:uFill>
                  <a:noFill/>
                </a:uFill>
                <a:latin typeface="Karla"/>
                <a:ea typeface="Karla"/>
                <a:cs typeface="Karla"/>
                <a:sym typeface="Karl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</a:t>
            </a:r>
            <a:endParaRPr b="1" i="0" sz="1000" u="sng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44" title="BK 1.png"/>
          <p:cNvPicPr preferRelativeResize="0"/>
          <p:nvPr/>
        </p:nvPicPr>
        <p:blipFill rotWithShape="1">
          <a:blip r:embed="rId2">
            <a:alphaModFix/>
          </a:blip>
          <a:srcRect b="922" l="1755" r="97" t="932"/>
          <a:stretch/>
        </p:blipFill>
        <p:spPr>
          <a:xfrm flipH="1">
            <a:off x="3" y="0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45" title="Mesa de trabajo 3.png"/>
          <p:cNvPicPr preferRelativeResize="0"/>
          <p:nvPr/>
        </p:nvPicPr>
        <p:blipFill rotWithShape="1">
          <a:blip r:embed="rId2">
            <a:alphaModFix/>
          </a:blip>
          <a:srcRect b="826" l="826" r="826" t="826"/>
          <a:stretch/>
        </p:blipFill>
        <p:spPr>
          <a:xfrm flipH="1">
            <a:off x="1" y="-1"/>
            <a:ext cx="9143997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BLANK_1_1_1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6" title="Mesa de trabajo 2 copia 2 white op.png"/>
          <p:cNvPicPr preferRelativeResize="0"/>
          <p:nvPr/>
        </p:nvPicPr>
        <p:blipFill rotWithShape="1">
          <a:blip r:embed="rId2">
            <a:alphaModFix/>
          </a:blip>
          <a:srcRect b="416" l="0" r="832" t="415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228600" y="445025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0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gtree"/>
              <a:buNone/>
              <a:defRPr b="1" i="0" sz="25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Relationship Id="rId4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228600" y="1102382"/>
            <a:ext cx="8686800" cy="164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rPr b="1"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FS–RFE: Exploring the Multi Neuro-Dysfunction Risk Module of Dementia Diseases Through a Combined Feature Selection Algorithm by Integrating Fisher Score and RFE.</a:t>
            </a:r>
            <a:endParaRPr/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228600" y="3171600"/>
            <a:ext cx="2945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 A. Murad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Id: 212-16-577</a:t>
            </a:r>
            <a:endParaRPr/>
          </a:p>
        </p:txBody>
      </p:sp>
      <p:cxnSp>
        <p:nvCxnSpPr>
          <p:cNvPr id="130" name="Google Shape;130;p1"/>
          <p:cNvCxnSpPr/>
          <p:nvPr/>
        </p:nvCxnSpPr>
        <p:spPr>
          <a:xfrm>
            <a:off x="-76525" y="29430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1" name="Google Shape;1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161" y="173076"/>
            <a:ext cx="885951" cy="86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7131" y="146242"/>
            <a:ext cx="1879552" cy="75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"/>
          <p:cNvSpPr txBox="1"/>
          <p:nvPr>
            <p:ph idx="1" type="subTitle"/>
          </p:nvPr>
        </p:nvSpPr>
        <p:spPr>
          <a:xfrm>
            <a:off x="5684394" y="3157773"/>
            <a:ext cx="29454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Faruk Hosen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Lecturer (Senior Scale)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1"/>
          <p:cNvSpPr txBox="1"/>
          <p:nvPr>
            <p:ph idx="1" type="subTitle"/>
          </p:nvPr>
        </p:nvSpPr>
        <p:spPr>
          <a:xfrm>
            <a:off x="836800" y="3982146"/>
            <a:ext cx="71922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Computing and Information System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Science and Information Technology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Daffodil International University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"/>
          <p:cNvSpPr txBox="1"/>
          <p:nvPr>
            <p:ph idx="1" type="subTitle"/>
          </p:nvPr>
        </p:nvSpPr>
        <p:spPr>
          <a:xfrm>
            <a:off x="809129" y="4656309"/>
            <a:ext cx="7192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Submission Date: 21st October 2025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Table of Agenda</a:t>
            </a:r>
            <a:endParaRPr b="0"/>
          </a:p>
        </p:txBody>
      </p:sp>
      <p:sp>
        <p:nvSpPr>
          <p:cNvPr id="141" name="Google Shape;141;p2"/>
          <p:cNvSpPr txBox="1"/>
          <p:nvPr>
            <p:ph idx="1" type="subTitle"/>
          </p:nvPr>
        </p:nvSpPr>
        <p:spPr>
          <a:xfrm>
            <a:off x="2336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Background</a:t>
            </a:r>
            <a:endParaRPr sz="1400"/>
          </a:p>
        </p:txBody>
      </p:sp>
      <p:sp>
        <p:nvSpPr>
          <p:cNvPr id="142" name="Google Shape;142;p2"/>
          <p:cNvSpPr txBox="1"/>
          <p:nvPr>
            <p:ph idx="2" type="subTitle"/>
          </p:nvPr>
        </p:nvSpPr>
        <p:spPr>
          <a:xfrm>
            <a:off x="25015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4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Research Objective</a:t>
            </a:r>
            <a:endParaRPr sz="14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2"/>
          <p:cNvSpPr txBox="1"/>
          <p:nvPr>
            <p:ph idx="3" type="subTitle"/>
          </p:nvPr>
        </p:nvSpPr>
        <p:spPr>
          <a:xfrm>
            <a:off x="47694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144" name="Google Shape;144;p2"/>
          <p:cNvSpPr txBox="1"/>
          <p:nvPr>
            <p:ph idx="4" type="subTitle"/>
          </p:nvPr>
        </p:nvSpPr>
        <p:spPr>
          <a:xfrm>
            <a:off x="7037350" y="241367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145" name="Google Shape;145;p2"/>
          <p:cNvSpPr txBox="1"/>
          <p:nvPr>
            <p:ph idx="5" type="subTitle"/>
          </p:nvPr>
        </p:nvSpPr>
        <p:spPr>
          <a:xfrm>
            <a:off x="2311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Datasets</a:t>
            </a:r>
            <a:endParaRPr/>
          </a:p>
        </p:txBody>
      </p:sp>
      <p:sp>
        <p:nvSpPr>
          <p:cNvPr id="146" name="Google Shape;146;p2"/>
          <p:cNvSpPr txBox="1"/>
          <p:nvPr>
            <p:ph idx="6" type="subTitle"/>
          </p:nvPr>
        </p:nvSpPr>
        <p:spPr>
          <a:xfrm>
            <a:off x="24990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Feature Selection</a:t>
            </a:r>
            <a:endParaRPr/>
          </a:p>
        </p:txBody>
      </p:sp>
      <p:sp>
        <p:nvSpPr>
          <p:cNvPr id="147" name="Google Shape;147;p2"/>
          <p:cNvSpPr txBox="1"/>
          <p:nvPr>
            <p:ph idx="7" type="subTitle"/>
          </p:nvPr>
        </p:nvSpPr>
        <p:spPr>
          <a:xfrm>
            <a:off x="47669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ML Application</a:t>
            </a:r>
            <a:endParaRPr/>
          </a:p>
        </p:txBody>
      </p:sp>
      <p:sp>
        <p:nvSpPr>
          <p:cNvPr id="148" name="Google Shape;148;p2"/>
          <p:cNvSpPr txBox="1"/>
          <p:nvPr>
            <p:ph idx="8" type="subTitle"/>
          </p:nvPr>
        </p:nvSpPr>
        <p:spPr>
          <a:xfrm>
            <a:off x="7034825" y="3773125"/>
            <a:ext cx="18831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Analysis</a:t>
            </a:r>
            <a:endParaRPr/>
          </a:p>
        </p:txBody>
      </p:sp>
      <p:sp>
        <p:nvSpPr>
          <p:cNvPr id="149" name="Google Shape;149;p2"/>
          <p:cNvSpPr txBox="1"/>
          <p:nvPr>
            <p:ph idx="9" type="title"/>
          </p:nvPr>
        </p:nvSpPr>
        <p:spPr>
          <a:xfrm>
            <a:off x="7034825" y="2029975"/>
            <a:ext cx="625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50" name="Google Shape;150;p2"/>
          <p:cNvSpPr txBox="1"/>
          <p:nvPr>
            <p:ph idx="13" type="title"/>
          </p:nvPr>
        </p:nvSpPr>
        <p:spPr>
          <a:xfrm>
            <a:off x="2498225" y="2029985"/>
            <a:ext cx="625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51" name="Google Shape;151;p2"/>
          <p:cNvSpPr txBox="1"/>
          <p:nvPr>
            <p:ph idx="14" type="title"/>
          </p:nvPr>
        </p:nvSpPr>
        <p:spPr>
          <a:xfrm>
            <a:off x="231125" y="2029975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52" name="Google Shape;152;p2"/>
          <p:cNvSpPr txBox="1"/>
          <p:nvPr>
            <p:ph idx="15" type="title"/>
          </p:nvPr>
        </p:nvSpPr>
        <p:spPr>
          <a:xfrm>
            <a:off x="4766525" y="2029967"/>
            <a:ext cx="6258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53" name="Google Shape;153;p2"/>
          <p:cNvSpPr txBox="1"/>
          <p:nvPr>
            <p:ph idx="16" type="title"/>
          </p:nvPr>
        </p:nvSpPr>
        <p:spPr>
          <a:xfrm>
            <a:off x="2499825" y="3377214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54" name="Google Shape;154;p2"/>
          <p:cNvSpPr txBox="1"/>
          <p:nvPr>
            <p:ph idx="17" type="title"/>
          </p:nvPr>
        </p:nvSpPr>
        <p:spPr>
          <a:xfrm>
            <a:off x="4767325" y="3377214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55" name="Google Shape;155;p2"/>
          <p:cNvSpPr txBox="1"/>
          <p:nvPr>
            <p:ph idx="18" type="title"/>
          </p:nvPr>
        </p:nvSpPr>
        <p:spPr>
          <a:xfrm>
            <a:off x="7034825" y="3377224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156" name="Google Shape;156;p2"/>
          <p:cNvSpPr txBox="1"/>
          <p:nvPr>
            <p:ph idx="19" type="title"/>
          </p:nvPr>
        </p:nvSpPr>
        <p:spPr>
          <a:xfrm>
            <a:off x="232325" y="3377225"/>
            <a:ext cx="624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157" name="Google Shape;157;p2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63" name="Google Shape;163;p3"/>
          <p:cNvSpPr/>
          <p:nvPr/>
        </p:nvSpPr>
        <p:spPr>
          <a:xfrm>
            <a:off x="816480" y="3136766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what?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483930" y="3637218"/>
            <a:ext cx="20370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Dementia causes progressive decline in memory and cognition.</a:t>
            </a:r>
            <a:endParaRPr b="0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2853630" y="3136790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Types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2367530" y="3637216"/>
            <a:ext cx="23190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Alzheimer’s (AD), Vascular Dementia (VaD), Lewy Body Dementia (DLB), and Frontotemporal Dementia (FTD).</a:t>
            </a:r>
            <a:endParaRPr b="0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890756" y="3136790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Fact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4558205" y="3637217"/>
            <a:ext cx="22329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These diseases share overlapping genetic and molecular mechanisms.</a:t>
            </a:r>
            <a:endParaRPr b="0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927930" y="3136790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Novelty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6595380" y="3637218"/>
            <a:ext cx="20787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Identifying shared biomarkers can improve diagnosis and treatment.</a:t>
            </a:r>
            <a:endParaRPr b="1" i="0" sz="10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171" name="Google Shape;171;p3"/>
          <p:cNvCxnSpPr/>
          <p:nvPr/>
        </p:nvCxnSpPr>
        <p:spPr>
          <a:xfrm>
            <a:off x="661455" y="4456929"/>
            <a:ext cx="779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72" name="Google Shape;172;p3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3" name="Google Shape;173;p3" title="41004997.jpeg"/>
          <p:cNvPicPr preferRelativeResize="0"/>
          <p:nvPr/>
        </p:nvPicPr>
        <p:blipFill rotWithShape="1">
          <a:blip r:embed="rId3">
            <a:alphaModFix/>
          </a:blip>
          <a:srcRect b="26044" l="0" r="0" t="22461"/>
          <a:stretch/>
        </p:blipFill>
        <p:spPr>
          <a:xfrm>
            <a:off x="2188375" y="1758838"/>
            <a:ext cx="4908125" cy="117026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/>
          <p:nvPr/>
        </p:nvSpPr>
        <p:spPr>
          <a:xfrm>
            <a:off x="3956492" y="1239765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Dementia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"/>
          <p:cNvSpPr txBox="1"/>
          <p:nvPr>
            <p:ph idx="6" type="title"/>
          </p:nvPr>
        </p:nvSpPr>
        <p:spPr>
          <a:xfrm>
            <a:off x="228600" y="462375"/>
            <a:ext cx="86868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Research Objective</a:t>
            </a:r>
            <a:endParaRPr/>
          </a:p>
        </p:txBody>
      </p:sp>
      <p:sp>
        <p:nvSpPr>
          <p:cNvPr id="180" name="Google Shape;180;p4"/>
          <p:cNvSpPr txBox="1"/>
          <p:nvPr>
            <p:ph type="title"/>
          </p:nvPr>
        </p:nvSpPr>
        <p:spPr>
          <a:xfrm>
            <a:off x="221845" y="3579842"/>
            <a:ext cx="36894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DEGs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(Differentially Expressed Genes) among multiple dementia datasets.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1" name="Google Shape;181;p4"/>
          <p:cNvSpPr txBox="1"/>
          <p:nvPr>
            <p:ph idx="4" type="title"/>
          </p:nvPr>
        </p:nvSpPr>
        <p:spPr>
          <a:xfrm>
            <a:off x="4882700" y="2006300"/>
            <a:ext cx="32439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Attention-based LSTM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robust gene classification and validation.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82" name="Google Shape;182;p4"/>
          <p:cNvSpPr txBox="1"/>
          <p:nvPr>
            <p:ph idx="7" type="subTitle"/>
          </p:nvPr>
        </p:nvSpPr>
        <p:spPr>
          <a:xfrm>
            <a:off x="228600" y="2021150"/>
            <a:ext cx="3978600" cy="11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Develop a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hybrid feature selection framework (FS–RFE)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combining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Fisher Score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(filter method) and </a:t>
            </a: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Recursive Feature Elimination (RFE)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(wrapper method).</a:t>
            </a:r>
            <a:endParaRPr sz="1400"/>
          </a:p>
        </p:txBody>
      </p:sp>
      <p:cxnSp>
        <p:nvCxnSpPr>
          <p:cNvPr id="183" name="Google Shape;183;p4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4" name="Google Shape;184;p4"/>
          <p:cNvSpPr txBox="1"/>
          <p:nvPr>
            <p:ph idx="4" type="title"/>
          </p:nvPr>
        </p:nvSpPr>
        <p:spPr>
          <a:xfrm>
            <a:off x="4872972" y="3557051"/>
            <a:ext cx="32439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Perform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biological enrichment, PPI network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drug-binding analysis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"/>
          <p:cNvSpPr txBox="1"/>
          <p:nvPr>
            <p:ph type="ctrTitle"/>
          </p:nvPr>
        </p:nvSpPr>
        <p:spPr>
          <a:xfrm>
            <a:off x="258150" y="-9"/>
            <a:ext cx="8686800" cy="82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rPr lang="en"/>
              <a:t>Literature Review</a:t>
            </a:r>
            <a:endParaRPr/>
          </a:p>
        </p:txBody>
      </p:sp>
      <p:cxnSp>
        <p:nvCxnSpPr>
          <p:cNvPr id="190" name="Google Shape;190;p5"/>
          <p:cNvCxnSpPr/>
          <p:nvPr/>
        </p:nvCxnSpPr>
        <p:spPr>
          <a:xfrm>
            <a:off x="-76525" y="788053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191" name="Google Shape;191;p5"/>
          <p:cNvGraphicFramePr/>
          <p:nvPr/>
        </p:nvGraphicFramePr>
        <p:xfrm>
          <a:off x="525650" y="84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{A826B2A3-DA76-4A92-918D-F4DFB7DA8C02}</a:tableStyleId>
              </a:tblPr>
              <a:tblGrid>
                <a:gridCol w="1022475"/>
                <a:gridCol w="1947975"/>
                <a:gridCol w="1101800"/>
                <a:gridCol w="2723625"/>
                <a:gridCol w="1560125"/>
              </a:tblGrid>
              <a:tr h="524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Author (Year)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Methodology / Model Used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Dataset / Focus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Key Findings / Results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" sz="1200" u="none" cap="none" strike="noStrike"/>
                        <a:t>Accuracy / Performance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4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Shigemizu et al. (2019)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Penalized Regression, Random Forest, SVM, Gradient Boosting Decision Tree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Lewy Body Dementia (DLB)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Identified significant association between BCL2L1 and PIK3R2 with DLB; developed predictive model for dementia classification.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Accuracy 0.829 on independent test set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María et al. (2017)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Machine Learning (Random Forests)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Alzheimer’s Disease (AD)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Found genes highly correlated with AD; MYNN proposed as potential diagnostic biomarker.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High predictive efficacy (no % stated)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Fangchao et al. (2024)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miRNA &amp; lncRNA Regulation via ML Models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Vascular Dementia (VaD)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Identified hub genes and regulatory RNA pathways; potential for clinical treatment targets.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AUC 0.81 – 0.92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Sunghong et al. (2024)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Graph-based Machine Learning Model (GPN)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Dementia Subtype Diagnosis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Protein interaction-based approach; improved subtype differentiation.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/>
                        <a:t>10.4% higher performance than existing methods</a:t>
                      </a:r>
                      <a:endParaRPr sz="1200" u="none" cap="none" strike="noStrike"/>
                    </a:p>
                  </a:txBody>
                  <a:tcPr marT="91425" marB="91425" marR="91425" marL="91425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6"/>
          <p:cNvSpPr txBox="1"/>
          <p:nvPr>
            <p:ph type="ctrTitle"/>
          </p:nvPr>
        </p:nvSpPr>
        <p:spPr>
          <a:xfrm>
            <a:off x="258150" y="-20228"/>
            <a:ext cx="86868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rPr lang="en"/>
              <a:t>Methodology Overview</a:t>
            </a:r>
            <a:endParaRPr/>
          </a:p>
        </p:txBody>
      </p:sp>
      <p:cxnSp>
        <p:nvCxnSpPr>
          <p:cNvPr id="197" name="Google Shape;197;p6"/>
          <p:cNvCxnSpPr/>
          <p:nvPr/>
        </p:nvCxnSpPr>
        <p:spPr>
          <a:xfrm>
            <a:off x="-76525" y="788053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98" name="Google Shape;198;p6" title="492304c7-ece5-4018-986f-2d9d3c48b7c9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0338" y="945966"/>
            <a:ext cx="5387334" cy="37711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Datasets Used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16480" y="3082724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GSE39420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483930" y="3583175"/>
            <a:ext cx="20370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Alzheimer’s disease </a:t>
            </a:r>
            <a:r>
              <a:rPr b="0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Control - 7                  Infected - 14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2853630" y="3082748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GSE122063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2367525" y="3583175"/>
            <a:ext cx="23190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Vascular dementia       </a:t>
            </a:r>
            <a:r>
              <a:rPr b="0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Control - 11                        Infected - 20  </a:t>
            </a:r>
            <a:r>
              <a:rPr b="1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                            </a:t>
            </a:r>
            <a:endParaRPr b="1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4890756" y="3082748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GSE190348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4429850" y="3583175"/>
            <a:ext cx="2232900" cy="7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Lewy Body dementia  </a:t>
            </a:r>
            <a:r>
              <a:rPr b="0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Control - 16                       Infected - 15 </a:t>
            </a:r>
            <a:endParaRPr b="1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927930" y="3082748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GSE62935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6595380" y="3583175"/>
            <a:ext cx="20787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Frontotemporal dementia </a:t>
            </a:r>
            <a:r>
              <a:rPr b="0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Control - 16                       Infected - 15 </a:t>
            </a:r>
            <a:endParaRPr b="1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12" name="Google Shape;212;p7"/>
          <p:cNvCxnSpPr/>
          <p:nvPr/>
        </p:nvCxnSpPr>
        <p:spPr>
          <a:xfrm>
            <a:off x="661455" y="4402886"/>
            <a:ext cx="779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13" name="Google Shape;213;p7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4" name="Google Shape;214;p7" title="US-NLM-NCBI-Logo.sv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1613" y="1306800"/>
            <a:ext cx="1039023" cy="8889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Preprocessing and Quality Control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392125" y="3904450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Transpose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392125" y="4407600"/>
            <a:ext cx="27897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Transpose the series matrics as genes as columns.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232649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23" name="Google Shape;223;p8"/>
          <p:cNvCxnSpPr>
            <a:stCxn id="222" idx="2"/>
          </p:cNvCxnSpPr>
          <p:nvPr/>
        </p:nvCxnSpPr>
        <p:spPr>
          <a:xfrm>
            <a:off x="280049" y="1174225"/>
            <a:ext cx="0" cy="36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4" name="Google Shape;224;p8"/>
          <p:cNvSpPr txBox="1"/>
          <p:nvPr/>
        </p:nvSpPr>
        <p:spPr>
          <a:xfrm>
            <a:off x="2025325" y="3234425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Series Matrics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2025325" y="3737575"/>
            <a:ext cx="30681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Apply Geo2r and aggregate with gene symbol and PValue</a:t>
            </a:r>
            <a:br>
              <a:rPr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</a:br>
            <a:r>
              <a:rPr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Form series matrics where gene as row .</a:t>
            </a:r>
            <a:endParaRPr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1864092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27" name="Google Shape;227;p8"/>
          <p:cNvCxnSpPr>
            <a:stCxn id="226" idx="2"/>
          </p:cNvCxnSpPr>
          <p:nvPr/>
        </p:nvCxnSpPr>
        <p:spPr>
          <a:xfrm>
            <a:off x="1911492" y="1174225"/>
            <a:ext cx="0" cy="29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 txBox="1"/>
          <p:nvPr/>
        </p:nvSpPr>
        <p:spPr>
          <a:xfrm>
            <a:off x="3658525" y="2564400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Normalization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3658527" y="3067550"/>
            <a:ext cx="23538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Robust Multi-Array Average (RMA)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normalization.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3495536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31" name="Google Shape;231;p8"/>
          <p:cNvCxnSpPr>
            <a:stCxn id="230" idx="2"/>
          </p:cNvCxnSpPr>
          <p:nvPr/>
        </p:nvCxnSpPr>
        <p:spPr>
          <a:xfrm>
            <a:off x="3542936" y="1174225"/>
            <a:ext cx="0" cy="23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2" name="Google Shape;232;p8"/>
          <p:cNvSpPr txBox="1"/>
          <p:nvPr/>
        </p:nvSpPr>
        <p:spPr>
          <a:xfrm>
            <a:off x="5291700" y="1894375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Background Correction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3" name="Google Shape;233;p8"/>
          <p:cNvSpPr txBox="1"/>
          <p:nvPr/>
        </p:nvSpPr>
        <p:spPr>
          <a:xfrm>
            <a:off x="5291700" y="2397525"/>
            <a:ext cx="32469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Applied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statistical models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remove noise and adjust for non-specific hybridization signals.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5126980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35" name="Google Shape;235;p8"/>
          <p:cNvCxnSpPr>
            <a:stCxn id="234" idx="2"/>
          </p:cNvCxnSpPr>
          <p:nvPr/>
        </p:nvCxnSpPr>
        <p:spPr>
          <a:xfrm>
            <a:off x="5174380" y="1174225"/>
            <a:ext cx="0" cy="16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8"/>
          <p:cNvSpPr txBox="1"/>
          <p:nvPr/>
        </p:nvSpPr>
        <p:spPr>
          <a:xfrm>
            <a:off x="6924900" y="1224350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.Cel file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37" name="Google Shape;237;p8"/>
          <p:cNvSpPr txBox="1"/>
          <p:nvPr/>
        </p:nvSpPr>
        <p:spPr>
          <a:xfrm>
            <a:off x="6924900" y="1727505"/>
            <a:ext cx="1990500" cy="5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Imported raw </a:t>
            </a:r>
            <a:r>
              <a:rPr b="1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 files</a:t>
            </a: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GEO datasets.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758424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39" name="Google Shape;239;p8"/>
          <p:cNvCxnSpPr>
            <a:stCxn id="238" idx="2"/>
          </p:cNvCxnSpPr>
          <p:nvPr/>
        </p:nvCxnSpPr>
        <p:spPr>
          <a:xfrm>
            <a:off x="6805824" y="1174225"/>
            <a:ext cx="0" cy="9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8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"/>
          <p:cNvSpPr txBox="1"/>
          <p:nvPr>
            <p:ph type="title"/>
          </p:nvPr>
        </p:nvSpPr>
        <p:spPr>
          <a:xfrm>
            <a:off x="23365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Preprocessing and Quality Control</a:t>
            </a:r>
            <a:endParaRPr/>
          </a:p>
        </p:txBody>
      </p:sp>
      <p:cxnSp>
        <p:nvCxnSpPr>
          <p:cNvPr id="246" name="Google Shape;246;p9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47" name="Google Shape;247;p9" title="box_plot_original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576" y="1607325"/>
            <a:ext cx="3695252" cy="29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9" title="box_plot_normalized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9227" y="1607325"/>
            <a:ext cx="3778125" cy="29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 txBox="1"/>
          <p:nvPr>
            <p:ph type="title"/>
          </p:nvPr>
        </p:nvSpPr>
        <p:spPr>
          <a:xfrm>
            <a:off x="23365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Feature Selection Framework</a:t>
            </a:r>
            <a:endParaRPr/>
          </a:p>
        </p:txBody>
      </p:sp>
      <p:cxnSp>
        <p:nvCxnSpPr>
          <p:cNvPr id="254" name="Google Shape;254;p10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5" name="Google Shape;255;p10" title="curve_plot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107" y="1242975"/>
            <a:ext cx="3326424" cy="251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0" title="scatter_plot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1906" y="1250871"/>
            <a:ext cx="3222524" cy="251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>
            <p:ph idx="4294967295" type="title"/>
          </p:nvPr>
        </p:nvSpPr>
        <p:spPr>
          <a:xfrm>
            <a:off x="3010073" y="3953325"/>
            <a:ext cx="4096500" cy="7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Fisher Score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 rank features(Genes).</a:t>
            </a:r>
            <a:endParaRPr sz="1400"/>
          </a:p>
        </p:txBody>
      </p:sp>
      <p:sp>
        <p:nvSpPr>
          <p:cNvPr id="258" name="Google Shape;258;p10"/>
          <p:cNvSpPr txBox="1"/>
          <p:nvPr>
            <p:ph idx="4294967295" type="title"/>
          </p:nvPr>
        </p:nvSpPr>
        <p:spPr>
          <a:xfrm>
            <a:off x="2824725" y="4361369"/>
            <a:ext cx="40965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Apply </a:t>
            </a:r>
            <a:r>
              <a:rPr b="1" lang="en" sz="1400">
                <a:latin typeface="Arial"/>
                <a:ea typeface="Arial"/>
                <a:cs typeface="Arial"/>
                <a:sym typeface="Arial"/>
              </a:rPr>
              <a:t>RFE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to iteratively remove irrelevant genes.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 txBox="1"/>
          <p:nvPr>
            <p:ph type="title"/>
          </p:nvPr>
        </p:nvSpPr>
        <p:spPr>
          <a:xfrm>
            <a:off x="23365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Feature Selection Framework</a:t>
            </a:r>
            <a:endParaRPr/>
          </a:p>
        </p:txBody>
      </p:sp>
      <p:cxnSp>
        <p:nvCxnSpPr>
          <p:cNvPr id="264" name="Google Shape;264;p11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1"/>
          <p:cNvSpPr txBox="1"/>
          <p:nvPr>
            <p:ph idx="4294967295" type="title"/>
          </p:nvPr>
        </p:nvSpPr>
        <p:spPr>
          <a:xfrm>
            <a:off x="3446200" y="4523753"/>
            <a:ext cx="40965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Select optimal subset of genes.</a:t>
            </a:r>
            <a:endParaRPr sz="1400"/>
          </a:p>
        </p:txBody>
      </p:sp>
      <p:pic>
        <p:nvPicPr>
          <p:cNvPr id="266" name="Google Shape;266;p11" title="rfe_applied_1k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9600" y="1303027"/>
            <a:ext cx="2732099" cy="254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1" title="4_dataset_system_biology_COMMON_45.JP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9450" y="1309950"/>
            <a:ext cx="2668150" cy="254057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1"/>
          <p:cNvSpPr/>
          <p:nvPr/>
        </p:nvSpPr>
        <p:spPr>
          <a:xfrm>
            <a:off x="282600" y="4033875"/>
            <a:ext cx="4641900" cy="3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Common Gene Through System biology Approach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5222825" y="4027027"/>
            <a:ext cx="3860400" cy="3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Karla"/>
                <a:ea typeface="Karla"/>
                <a:cs typeface="Karla"/>
                <a:sym typeface="Karla"/>
              </a:rPr>
              <a:t>Common Gene between mACHINE learning System biology Approach</a:t>
            </a:r>
            <a:endParaRPr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"/>
          <p:cNvSpPr txBox="1"/>
          <p:nvPr>
            <p:ph type="title"/>
          </p:nvPr>
        </p:nvSpPr>
        <p:spPr>
          <a:xfrm>
            <a:off x="233650" y="20924"/>
            <a:ext cx="8686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Best Classifier Selection</a:t>
            </a:r>
            <a:endParaRPr/>
          </a:p>
        </p:txBody>
      </p:sp>
      <p:cxnSp>
        <p:nvCxnSpPr>
          <p:cNvPr id="275" name="Google Shape;275;p12"/>
          <p:cNvCxnSpPr/>
          <p:nvPr/>
        </p:nvCxnSpPr>
        <p:spPr>
          <a:xfrm>
            <a:off x="-76525" y="66278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6" name="Google Shape;276;p12" title="IMG-20250221-WA0001(1)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8350" y="803049"/>
            <a:ext cx="3717797" cy="4194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Functional Analysis</a:t>
            </a:r>
            <a:endParaRPr/>
          </a:p>
        </p:txBody>
      </p:sp>
      <p:sp>
        <p:nvSpPr>
          <p:cNvPr id="282" name="Google Shape;282;p13"/>
          <p:cNvSpPr txBox="1"/>
          <p:nvPr/>
        </p:nvSpPr>
        <p:spPr>
          <a:xfrm>
            <a:off x="392125" y="3904450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Molecular Docking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392125" y="4155363"/>
            <a:ext cx="3266400" cy="8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the binding strength and specific interactions between target proteins and candidate ligands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232649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85" name="Google Shape;285;p13"/>
          <p:cNvCxnSpPr>
            <a:stCxn id="284" idx="2"/>
          </p:cNvCxnSpPr>
          <p:nvPr/>
        </p:nvCxnSpPr>
        <p:spPr>
          <a:xfrm>
            <a:off x="280049" y="1174225"/>
            <a:ext cx="0" cy="3668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3"/>
          <p:cNvSpPr txBox="1"/>
          <p:nvPr/>
        </p:nvSpPr>
        <p:spPr>
          <a:xfrm>
            <a:off x="2025325" y="3040592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PPI, TF–miRNA networks.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87" name="Google Shape;287;p13"/>
          <p:cNvSpPr txBox="1"/>
          <p:nvPr/>
        </p:nvSpPr>
        <p:spPr>
          <a:xfrm>
            <a:off x="2025325" y="3585277"/>
            <a:ext cx="3068100" cy="5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Analyzing the gene regulatory interaction network</a:t>
            </a:r>
            <a:r>
              <a:rPr b="0" i="0" lang="en" sz="12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1864092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89" name="Google Shape;289;p13"/>
          <p:cNvCxnSpPr>
            <a:stCxn id="288" idx="2"/>
          </p:cNvCxnSpPr>
          <p:nvPr/>
        </p:nvCxnSpPr>
        <p:spPr>
          <a:xfrm>
            <a:off x="1911492" y="1174225"/>
            <a:ext cx="0" cy="29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3"/>
          <p:cNvSpPr txBox="1"/>
          <p:nvPr/>
        </p:nvSpPr>
        <p:spPr>
          <a:xfrm>
            <a:off x="3658525" y="2315186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KEGG pathway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1" name="Google Shape;291;p13"/>
          <p:cNvSpPr txBox="1"/>
          <p:nvPr/>
        </p:nvSpPr>
        <p:spPr>
          <a:xfrm>
            <a:off x="3798425" y="2810575"/>
            <a:ext cx="2751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3495536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93" name="Google Shape;293;p13"/>
          <p:cNvCxnSpPr>
            <a:stCxn id="292" idx="2"/>
          </p:cNvCxnSpPr>
          <p:nvPr/>
        </p:nvCxnSpPr>
        <p:spPr>
          <a:xfrm>
            <a:off x="3542936" y="1174225"/>
            <a:ext cx="0" cy="232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13"/>
          <p:cNvSpPr txBox="1"/>
          <p:nvPr/>
        </p:nvSpPr>
        <p:spPr>
          <a:xfrm>
            <a:off x="5291700" y="2012059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Gene Ontology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5291700" y="2397525"/>
            <a:ext cx="3693900" cy="14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types of Gene Ontology (GO) analyses were performed using Enrichr: biological process (molecular activities), cellular component (gene regulatory functions), and molecular function (molecular-level activities)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5126980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297" name="Google Shape;297;p13"/>
          <p:cNvCxnSpPr>
            <a:stCxn id="296" idx="2"/>
          </p:cNvCxnSpPr>
          <p:nvPr/>
        </p:nvCxnSpPr>
        <p:spPr>
          <a:xfrm>
            <a:off x="5174380" y="1174225"/>
            <a:ext cx="0" cy="166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13"/>
          <p:cNvSpPr txBox="1"/>
          <p:nvPr/>
        </p:nvSpPr>
        <p:spPr>
          <a:xfrm>
            <a:off x="6924900" y="1224350"/>
            <a:ext cx="1990500" cy="58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Figtree"/>
                <a:ea typeface="Figtree"/>
                <a:cs typeface="Figtree"/>
                <a:sym typeface="Figtree"/>
              </a:rPr>
              <a:t>22 DEGs</a:t>
            </a:r>
            <a:endParaRPr b="0" i="0" sz="1600" u="none" cap="none" strike="noStrike">
              <a:solidFill>
                <a:schemeClr val="dk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6924900" y="1505976"/>
            <a:ext cx="2164500" cy="11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45 common DEGs were identified, which were further refined to 22 across the four datasets.</a:t>
            </a:r>
            <a:endParaRPr b="0" i="0" sz="12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6758424" y="1079125"/>
            <a:ext cx="94800" cy="951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01" name="Google Shape;301;p13"/>
          <p:cNvCxnSpPr>
            <a:stCxn id="300" idx="2"/>
          </p:cNvCxnSpPr>
          <p:nvPr/>
        </p:nvCxnSpPr>
        <p:spPr>
          <a:xfrm>
            <a:off x="6805824" y="1174225"/>
            <a:ext cx="0" cy="99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3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>
            <p:ph type="title"/>
          </p:nvPr>
        </p:nvSpPr>
        <p:spPr>
          <a:xfrm>
            <a:off x="233650" y="20924"/>
            <a:ext cx="8686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Functional Analysis Visualization</a:t>
            </a:r>
            <a:endParaRPr/>
          </a:p>
        </p:txBody>
      </p:sp>
      <p:cxnSp>
        <p:nvCxnSpPr>
          <p:cNvPr id="308" name="Google Shape;308;p14"/>
          <p:cNvCxnSpPr/>
          <p:nvPr/>
        </p:nvCxnSpPr>
        <p:spPr>
          <a:xfrm>
            <a:off x="-76525" y="66278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9" name="Google Shape;309;p14" title="tf_shor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075" y="1390675"/>
            <a:ext cx="3315850" cy="283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4" title="cc_dot_plot.jpe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35175" y="1003663"/>
            <a:ext cx="2434250" cy="3543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/>
          <p:nvPr/>
        </p:nvSpPr>
        <p:spPr>
          <a:xfrm>
            <a:off x="2194080" y="4377249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CheA3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530530" y="4637874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 Analysis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Proposed FS–RFE Framework</a:t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816480" y="2811404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Fisher Score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483930" y="3311855"/>
            <a:ext cx="20370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Removes noisy, irrelevant genes.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2853630" y="2811428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RFE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2367530" y="3311854"/>
            <a:ext cx="23190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Selects best predictive genes.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2" name="Google Shape;322;p15"/>
          <p:cNvSpPr/>
          <p:nvPr/>
        </p:nvSpPr>
        <p:spPr>
          <a:xfrm>
            <a:off x="4890756" y="2811428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Output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4558205" y="3311854"/>
            <a:ext cx="22329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Reduced gene subset      ( 22 core genes).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4" name="Google Shape;324;p15"/>
          <p:cNvSpPr/>
          <p:nvPr/>
        </p:nvSpPr>
        <p:spPr>
          <a:xfrm>
            <a:off x="6927930" y="2811428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Evaluation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6595380" y="3311855"/>
            <a:ext cx="2078700" cy="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Using AttLSTM classifier for dementia risk prediction.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26" name="Google Shape;326;p15"/>
          <p:cNvCxnSpPr/>
          <p:nvPr/>
        </p:nvCxnSpPr>
        <p:spPr>
          <a:xfrm>
            <a:off x="661455" y="4456929"/>
            <a:ext cx="779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27" name="Google Shape;327;p15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15"/>
          <p:cNvSpPr/>
          <p:nvPr/>
        </p:nvSpPr>
        <p:spPr>
          <a:xfrm>
            <a:off x="3982130" y="1908365"/>
            <a:ext cx="1371900" cy="405900"/>
          </a:xfrm>
          <a:prstGeom prst="roundRect">
            <a:avLst>
              <a:gd fmla="val 500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dk2"/>
                </a:solidFill>
                <a:latin typeface="Karla"/>
                <a:ea typeface="Karla"/>
                <a:cs typeface="Karla"/>
                <a:sym typeface="Karla"/>
              </a:rPr>
              <a:t>Fs-RFE</a:t>
            </a:r>
            <a:endParaRPr b="1" i="0" sz="1100" u="none" cap="none" strike="noStrike">
              <a:solidFill>
                <a:schemeClr val="dk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"/>
          <p:cNvSpPr txBox="1"/>
          <p:nvPr>
            <p:ph type="ctrTitle"/>
          </p:nvPr>
        </p:nvSpPr>
        <p:spPr>
          <a:xfrm>
            <a:off x="258150" y="-20234"/>
            <a:ext cx="8686800" cy="108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5200"/>
              <a:buNone/>
            </a:pPr>
            <a:r>
              <a:rPr lang="en"/>
              <a:t>Classifier Performance</a:t>
            </a:r>
            <a:endParaRPr/>
          </a:p>
        </p:txBody>
      </p:sp>
      <p:cxnSp>
        <p:nvCxnSpPr>
          <p:cNvPr id="334" name="Google Shape;334;p16"/>
          <p:cNvCxnSpPr/>
          <p:nvPr/>
        </p:nvCxnSpPr>
        <p:spPr>
          <a:xfrm>
            <a:off x="-76525" y="788053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335" name="Google Shape;335;p16"/>
          <p:cNvGraphicFramePr/>
          <p:nvPr/>
        </p:nvGraphicFramePr>
        <p:xfrm>
          <a:off x="1457600" y="85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{9DF9EDC1-B6B6-48BE-A3C7-FE82F6D0DBE0}</a:tableStyleId>
              </a:tblPr>
              <a:tblGrid>
                <a:gridCol w="791150"/>
                <a:gridCol w="1404350"/>
                <a:gridCol w="780300"/>
                <a:gridCol w="891750"/>
                <a:gridCol w="845325"/>
                <a:gridCol w="983200"/>
                <a:gridCol w="1076100"/>
              </a:tblGrid>
              <a:tr h="405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Phase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Classifier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AUC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ACC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F1 score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PRE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" sz="1400" u="none" cap="none" strike="noStrike"/>
                        <a:t>REC</a:t>
                      </a:r>
                      <a:endParaRPr b="1"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Without FS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SVM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76.30%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68.18%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73.08%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70.37%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76.00%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XGBoost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84.74% 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59.26%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74.42%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59.26%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MLP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77.38%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73.85%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81.32%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72.55%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92.50%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CNN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57.79%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68.18%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78.78%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66.66%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96.29%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Attention+Lstm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 71.54%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77.27%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83.87%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74.28%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96.29%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325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FS Round 1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FS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SVM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81.71 %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77.27%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79.17%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82.61%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76.00%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XGBoost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96.54 %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61.54%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76.19%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61.54%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MLP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95.02 %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84.62%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87.80%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85.71%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90.00%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CNN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79.22 %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77.27%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79.16%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90.47%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70.37%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AttLSTM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87.99%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84.61%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85.29%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74.35%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rowSpan="5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FS Round 2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RFE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SVM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84.74%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84.09%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87.72%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78.12%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93.29%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XGBoost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96.54 %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61.54%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76.19%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61.54%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MLP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95.02 %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86.15%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8916%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86.05%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92.50%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62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CNN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73.70%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77.27%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82.75%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77.41%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88.88%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19191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6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AttLSTM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82.52%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91.35%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84.00%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91.30%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77.77%</a:t>
                      </a:r>
                      <a:endParaRPr sz="1400" u="none" cap="none" strike="noStrike"/>
                    </a:p>
                  </a:txBody>
                  <a:tcPr marT="0" marB="0" marR="63500" marL="63500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7"/>
          <p:cNvSpPr txBox="1"/>
          <p:nvPr>
            <p:ph type="title"/>
          </p:nvPr>
        </p:nvSpPr>
        <p:spPr>
          <a:xfrm>
            <a:off x="228600" y="228600"/>
            <a:ext cx="86868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"/>
              <a:t>Functional Enrichment Results</a:t>
            </a:r>
            <a:endParaRPr/>
          </a:p>
        </p:txBody>
      </p:sp>
      <p:sp>
        <p:nvSpPr>
          <p:cNvPr id="341" name="Google Shape;341;p17"/>
          <p:cNvSpPr txBox="1"/>
          <p:nvPr/>
        </p:nvSpPr>
        <p:spPr>
          <a:xfrm>
            <a:off x="561375" y="1538500"/>
            <a:ext cx="29853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 and KEGG revealed shared pathways in: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Neuroinflammation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synaptic signaling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axon guidance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2" name="Google Shape;342;p17"/>
          <p:cNvSpPr txBox="1"/>
          <p:nvPr/>
        </p:nvSpPr>
        <p:spPr>
          <a:xfrm>
            <a:off x="6048899" y="1594674"/>
            <a:ext cx="2866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Identified </a:t>
            </a:r>
            <a:r>
              <a:rPr b="1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 key genes</a:t>
            </a:r>
            <a:r>
              <a:rPr b="0" i="0" lang="en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linked to multi-dementia processes.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3304202" y="3133748"/>
            <a:ext cx="3099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Hub genes: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ATM, CD84, NLK, YWHAG.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cxnSp>
        <p:nvCxnSpPr>
          <p:cNvPr id="344" name="Google Shape;344;p17"/>
          <p:cNvCxnSpPr/>
          <p:nvPr/>
        </p:nvCxnSpPr>
        <p:spPr>
          <a:xfrm>
            <a:off x="661455" y="4456929"/>
            <a:ext cx="7793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45" name="Google Shape;345;p17"/>
          <p:cNvCxnSpPr/>
          <p:nvPr/>
        </p:nvCxnSpPr>
        <p:spPr>
          <a:xfrm>
            <a:off x="-76525" y="11266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8"/>
          <p:cNvSpPr txBox="1"/>
          <p:nvPr>
            <p:ph type="title"/>
          </p:nvPr>
        </p:nvSpPr>
        <p:spPr>
          <a:xfrm>
            <a:off x="233650" y="20924"/>
            <a:ext cx="8686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Molecular Docking &amp; Drug Prediction</a:t>
            </a:r>
            <a:endParaRPr/>
          </a:p>
        </p:txBody>
      </p:sp>
      <p:cxnSp>
        <p:nvCxnSpPr>
          <p:cNvPr id="351" name="Google Shape;351;p18"/>
          <p:cNvCxnSpPr/>
          <p:nvPr/>
        </p:nvCxnSpPr>
        <p:spPr>
          <a:xfrm>
            <a:off x="-76525" y="66278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18"/>
          <p:cNvSpPr txBox="1"/>
          <p:nvPr/>
        </p:nvSpPr>
        <p:spPr>
          <a:xfrm>
            <a:off x="561375" y="949964"/>
            <a:ext cx="29853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Proteins used: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ATM, CD84, YWHAG, NLK.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3" name="Google Shape;353;p18"/>
          <p:cNvSpPr txBox="1"/>
          <p:nvPr/>
        </p:nvSpPr>
        <p:spPr>
          <a:xfrm>
            <a:off x="6053949" y="949987"/>
            <a:ext cx="2866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Phytochemical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Berberine showed highest binding affinity.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4" name="Google Shape;354;p18"/>
          <p:cNvSpPr txBox="1"/>
          <p:nvPr/>
        </p:nvSpPr>
        <p:spPr>
          <a:xfrm>
            <a:off x="294994" y="4007982"/>
            <a:ext cx="3099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Outperformed FDA-approved Donepezil in docking score.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5" name="Google Shape;355;p18"/>
          <p:cNvSpPr txBox="1"/>
          <p:nvPr/>
        </p:nvSpPr>
        <p:spPr>
          <a:xfrm>
            <a:off x="6053944" y="3962380"/>
            <a:ext cx="3099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Suggests Berberine as a promising therapeutic candidate.</a:t>
            </a:r>
            <a:endParaRPr b="1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356" name="Google Shape;3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3900" y="1587495"/>
            <a:ext cx="4165425" cy="2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9"/>
          <p:cNvSpPr txBox="1"/>
          <p:nvPr>
            <p:ph type="title"/>
          </p:nvPr>
        </p:nvSpPr>
        <p:spPr>
          <a:xfrm>
            <a:off x="233650" y="20924"/>
            <a:ext cx="8686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Key Findings</a:t>
            </a:r>
            <a:endParaRPr/>
          </a:p>
        </p:txBody>
      </p:sp>
      <p:cxnSp>
        <p:nvCxnSpPr>
          <p:cNvPr id="362" name="Google Shape;362;p19"/>
          <p:cNvCxnSpPr/>
          <p:nvPr/>
        </p:nvCxnSpPr>
        <p:spPr>
          <a:xfrm>
            <a:off x="-76525" y="662785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19"/>
          <p:cNvSpPr txBox="1"/>
          <p:nvPr/>
        </p:nvSpPr>
        <p:spPr>
          <a:xfrm>
            <a:off x="561375" y="949964"/>
            <a:ext cx="29853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FS–RFE efficiently reduced dimensionality.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6053949" y="949987"/>
            <a:ext cx="2866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AttLSTM achieved 91.35% accuracy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dementia classification.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325969" y="3512382"/>
            <a:ext cx="3099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Identified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shared biomarkers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across four dementia types.</a:t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66" name="Google Shape;366;p19"/>
          <p:cNvSpPr txBox="1"/>
          <p:nvPr/>
        </p:nvSpPr>
        <p:spPr>
          <a:xfrm>
            <a:off x="6053944" y="3513213"/>
            <a:ext cx="3099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Revealed potential 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drug targets and phytochemical therapies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1" i="0" sz="17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0"/>
          <p:cNvSpPr txBox="1"/>
          <p:nvPr>
            <p:ph type="title"/>
          </p:nvPr>
        </p:nvSpPr>
        <p:spPr>
          <a:xfrm>
            <a:off x="233650" y="20924"/>
            <a:ext cx="8686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Conclusion</a:t>
            </a:r>
            <a:endParaRPr/>
          </a:p>
        </p:txBody>
      </p:sp>
      <p:cxnSp>
        <p:nvCxnSpPr>
          <p:cNvPr id="372" name="Google Shape;372;p20"/>
          <p:cNvCxnSpPr/>
          <p:nvPr/>
        </p:nvCxnSpPr>
        <p:spPr>
          <a:xfrm>
            <a:off x="0" y="66278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3" name="Google Shape;373;p20"/>
          <p:cNvSpPr txBox="1"/>
          <p:nvPr/>
        </p:nvSpPr>
        <p:spPr>
          <a:xfrm>
            <a:off x="961570" y="1186067"/>
            <a:ext cx="7452069" cy="224889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31E3B"/>
                </a:solidFill>
                <a:latin typeface="Arial"/>
                <a:ea typeface="Arial"/>
                <a:cs typeface="Arial"/>
                <a:sym typeface="Arial"/>
              </a:rPr>
              <a:t>FS–RFE is a powerful hybrid method for high-dimensional biomedical data.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31E3B"/>
                </a:solidFill>
                <a:latin typeface="Arial"/>
                <a:ea typeface="Arial"/>
                <a:cs typeface="Arial"/>
                <a:sym typeface="Arial"/>
              </a:rPr>
              <a:t>Revealed molecular overlaps among dementia diseases.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31E3B"/>
                </a:solidFill>
                <a:latin typeface="Arial"/>
                <a:ea typeface="Arial"/>
                <a:cs typeface="Arial"/>
                <a:sym typeface="Arial"/>
              </a:rPr>
              <a:t>Suggests novel biomarkers and treatment insights.</a:t>
            </a:r>
            <a:endParaRPr/>
          </a:p>
          <a:p>
            <a:pPr indent="-285750" lvl="0" marL="28575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" sz="1400" u="none" cap="none" strike="noStrike">
                <a:solidFill>
                  <a:srgbClr val="031E3B"/>
                </a:solidFill>
                <a:latin typeface="Arial"/>
                <a:ea typeface="Arial"/>
                <a:cs typeface="Arial"/>
                <a:sym typeface="Arial"/>
              </a:rPr>
              <a:t>Future work: expand dataset and apply 3D molecular simulations.</a:t>
            </a:r>
            <a:endParaRPr b="0" i="0" sz="1700" u="none" cap="none" strike="noStrike">
              <a:solidFill>
                <a:srgbClr val="031E3B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4" name="Google Shape;374;p20"/>
          <p:cNvSpPr txBox="1"/>
          <p:nvPr/>
        </p:nvSpPr>
        <p:spPr>
          <a:xfrm>
            <a:off x="2472200" y="4069415"/>
            <a:ext cx="2866500" cy="8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75" name="Google Shape;375;p20"/>
          <p:cNvSpPr txBox="1"/>
          <p:nvPr/>
        </p:nvSpPr>
        <p:spPr>
          <a:xfrm>
            <a:off x="922250" y="3129378"/>
            <a:ext cx="3099900" cy="9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 txBox="1"/>
          <p:nvPr>
            <p:ph type="title"/>
          </p:nvPr>
        </p:nvSpPr>
        <p:spPr>
          <a:xfrm>
            <a:off x="233650" y="20924"/>
            <a:ext cx="86868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References</a:t>
            </a:r>
            <a:endParaRPr/>
          </a:p>
        </p:txBody>
      </p:sp>
      <p:cxnSp>
        <p:nvCxnSpPr>
          <p:cNvPr id="381" name="Google Shape;381;p21"/>
          <p:cNvCxnSpPr/>
          <p:nvPr/>
        </p:nvCxnSpPr>
        <p:spPr>
          <a:xfrm flipH="1" rot="10800000">
            <a:off x="0" y="643724"/>
            <a:ext cx="9144000" cy="19061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2" name="Google Shape;382;p21"/>
          <p:cNvSpPr txBox="1"/>
          <p:nvPr/>
        </p:nvSpPr>
        <p:spPr>
          <a:xfrm>
            <a:off x="893248" y="863250"/>
            <a:ext cx="69462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1.Shigemizu, D., Akiyama, S., Asanomi, Y., Boroevich, K. A., Sharma, A., Tsunoda, T., ... &amp; Niida, S. (2019). A comparison of machine learning classifiers for dementia with Lewy bodies using miRNA expression data. BMC medical genomics, 12, 1-10.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2.Zheng, W., Lin, D., Shi, S., Ren, J., Wu, J., Wang, M., &amp; Wan, S. (2024). Identifying shared diagnostic genes and mechanisms in vascular dementia and Alzheimer's disease via bioinformatics and machine learning. Journal of Alzheimer's Disease Reports, 8(1), 1558-1572.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3.Jiang, L., Wang, Q., Jiang, Y., Peng, D., Zong, K., Li, S., ... &amp; Huang, Z. (2024). Identification of diagnostic gene signatures and molecular mechanisms for non-alcoholic fatty liver disease and Alzheimer’s disease through machine learning algorithms. Clinica Chimica Acta, 557, 117892.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4.Holman, A. G., &amp; Gabuzda, D. (2012). A machine learning approach for identifying amino acid signatures in the HIV env gene predictive of dementia. PLoS One, 7(11), e49538.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5.Martínez-Ballesteros, M., García-Heredia, J. M., Nepomuceno-Chamorro, I. A., &amp; Riquelme-Santos, J. C. (2017). Machine learning techniques to discover genes with potential prognosis role in Alzheimer’s disease using different biological sources. Information Fusion, 36, 114-129.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6.Ren, J., Zhang, B., Wei, D., &amp; Zhang, Z. (2020). Identification of methylated gene biomarkers in patients with Alzheimer’s disease based on machine learning. BioMed Research International, 2020(1), 8348147.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7" name="Google Shape;387;p22"/>
          <p:cNvCxnSpPr/>
          <p:nvPr/>
        </p:nvCxnSpPr>
        <p:spPr>
          <a:xfrm>
            <a:off x="0" y="294300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8" name="Google Shape;388;p22"/>
          <p:cNvSpPr txBox="1"/>
          <p:nvPr>
            <p:ph idx="2" type="title"/>
          </p:nvPr>
        </p:nvSpPr>
        <p:spPr>
          <a:xfrm>
            <a:off x="2694200" y="1363173"/>
            <a:ext cx="38784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3" name="Google Shape;393;p23"/>
          <p:cNvCxnSpPr/>
          <p:nvPr/>
        </p:nvCxnSpPr>
        <p:spPr>
          <a:xfrm>
            <a:off x="-76525" y="2943000"/>
            <a:ext cx="930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23"/>
          <p:cNvSpPr txBox="1"/>
          <p:nvPr>
            <p:ph idx="2" type="title"/>
          </p:nvPr>
        </p:nvSpPr>
        <p:spPr>
          <a:xfrm>
            <a:off x="2694200" y="1363173"/>
            <a:ext cx="3878400" cy="8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Gradient by Slidesgo">
  <a:themeElements>
    <a:clrScheme name="Simple Light">
      <a:dk1>
        <a:srgbClr val="083C77"/>
      </a:dk1>
      <a:lt1>
        <a:srgbClr val="EBFCFF"/>
      </a:lt1>
      <a:dk2>
        <a:srgbClr val="083C77"/>
      </a:dk2>
      <a:lt2>
        <a:srgbClr val="9CE3E9"/>
      </a:lt2>
      <a:accent1>
        <a:srgbClr val="93C4E0"/>
      </a:accent1>
      <a:accent2>
        <a:srgbClr val="829EE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83C7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</cp:coreProperties>
</file>